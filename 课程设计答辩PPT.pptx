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好，我是智能制造工程专业的学生。本次课程设计的题目是"面向车间设备运维的智能故障预警系统"。系统基于SKAB工业水泵数据集，运用孤立森林、随机森林和特征重要度三项课程技术，构建了B/S架构的智能运维平台。下面我将从研究背景、系统设计、核心技术、测试验证等方面进行汇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分为六个部分：首先介绍研究背景与意义，说明设备运维的痛点和研究目标；然后展示系统方案设计，包括B/S四层架构和功能模块；第三部分介绍数据资源构建，使用SKAB数据集完成46669条数据预处理和入库；第四部分重点讲解三大核心技术的实现；第五部分展示系统测试与验证结果；最后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传统设备运维主要依赖定期巡检和事后维修，存在三大痛点：故障发现滞后导致非计划停机、运维成本偏高、根因定位困难。本研究的意义在于通过数据驱动的预测性维护，在故障发生前提前预警，辅助运维人员快速定位根因，从而减少停机时间、降低运维成本、提升设备综合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系统采用B/S四层架构。最上层是表现层，包含四个前端页面，使用HTML/CSS/JavaScript和ECharts实现深色工业科技风界面。第二层是业务逻辑层，基于Flask框架提供13个RESTful API，负责业务流程编排，实现扫描到告警到处置到运维记录的完整闭环。第三层是算法层，包含孤立森林异常检测、随机森林故障预测（准确率93.04%）和特征重要度根因分析三大模型。最底层是数据层，使用SQLite存储4张核心表，共46669条传感器时序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据资源构建使用SKAB公开工业水泵异常检测数据集，包含38个CSV文件、4类故障场景、8路传感器。经过6步预处理流程（数据合并、标签填充、时间转换、两次去重、缺失值处理、排序输出），最终得到46669条干净样本，缺失值和重复行均为0。数据按故障场景映射为4台虚拟设备入库SQLite，其中PUMP-001为正常工况健康度100%，其余3台为故障场景健康度63%-65%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技术一是基于孤立森林的时序异常检测。孤立森林通过随机划分特征空间构建多棵孤立树，异常点由于数量少且特征值偏离正常分布，路径长度更短，异常分数更接近1。本系统仅使用正常工况样本训练模型，n_estimators=100，contamination=0.05，输入8路传感器值，输出是否异常和异常分数。异常检测与故障概率联合判定综合预警级别：故障概率≥0.7或检测为异常判定为高危，0.4到0.7为中危，否则为正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技术二是基于随机森林的设备故障预测。随机森林通过Bootstrap自助采样生成多个训练子集，每个子集训练一棵决策树，最终通过投票综合所有树的预测结果，降低过拟合风险。本系统以8路传感器值为输入特征，anomaly标签为监督信号，按8:2划分训练集和测试集，n_estimators=200。模型在测试集上准确率达93.04%，混淆矩阵显示真正例6594、假正例92、假负例558、真负例2090，精确率95.8%，召回率78.9%，F1分数86.5%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技术三是基于特征重要度的故障根因分析。从训练好的随机森林模型中提取feature_importances_，评估每路传感器对故障预测的贡献程度，贡献度越高对故障判定影响越大。系统取Top3贡献度最高的传感器作为根因，结合物理含义生成针对性运维建议，如振动异常建议检查轴承磨损、流量异常建议检查管路阀门等。这是智能诊断的最后一环，将算法输出转化为运维人员可操作的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包含四个核心页面，采用深色工业科技风界面。第一页是设备运维管理驾驶舱，包含5项KPI指标卡、6类可视化图表和设备健康档案表。第二页是传感器实时监控与诊断，包含3大仪表盘、8路传感器gauge、4组时序曲线和三大算法串联智能诊断。第三页是故障告警管理面板，包含统计卡、级别筛选、趋势图和告警处置功能。第四页是运维处置记录，包含统计和完整处置历史。告警处置时自动创建运维记录，形成完整业务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系统测试使用Python标准库unittest和Flask test_client，无需启动服务器。共编写38个自动化测试用例，分为5个测试类：TestDatabase(7个)验证4张表和数据量，TestAlgorithms(8个)验证三大算法模型，TestAPI(17个)验证13个接口和三维筛选，TestBusinessFlow(5个)验证扫描到告警到处置到记录的完整闭环，TestPages(4个)验证4个页面路由。全部38个用例在1.257秒内通过，0失败0错误。集成调试过程中发现并修复了5个真实bug，包括数据库列名不一致、仪表盘初始空白、表格字体重叠等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全程采用Vibe-Coding模式开发，使用豆包作为AI辅助工具。关键提示词策略包括任务拆解、约束说明、验收标准、上下文工程、规格驱动和人工接管。开发过程中AI生成代码出现了5个典型错误，包括数据库列名不一致、健康度阈值不合理、全局nowrap导致溢出、bytes语法错误和ECharts重复初始化，均经人工审查后修复。所有AI生成代码必须经人工审查逻辑、安全性和业务适配性，通过自动化测试验证后才提交到GitHub。项目保留了7份按阶段编号的prompt档案和完整的Git提交历史，满足课程设计过程考核要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项目完成了面向车间设备运维的智能故障预警系统，包含4个页面、13个API接口和3大算法模块，故障预测测试集准确率达到93.04%，38个自动化测试用例全部通过，保留了7份Vibe-Coding过程档案。项目有三个创新点：一是三算法串联形成完整智能诊断链，二是融合异常分数与故障概率的综合预警级别判定，三是告警到处置到运维记录的完整闭环。不足之处在于数据集规模有限、模型可解释性可进一步提升、当前为批量分析。未来可接入真实工业数据、引入SHAP可解释性方法、扩展实时流式处理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课程设计完成了面向车间设备运维的智能故障预警系统，采用B/S架构，包含孤立森林异常检测、随机森林故障预测和特征重要度根因分析三大算法模块，实现了从数据采集、预处理、模型训练到系统开发、测试和部署的完整流程。全程采用Vibe-Coding模式开发，使用豆包作为AI辅助工具，保留了完整的过程档案和Git提交历史。感谢指导教师的悉心指导，敬请各位老师批评指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50000">
              <a:srgbClr val="122046">
                <a:alpha val="100000"/>
              </a:srgbClr>
            </a:gs>
            <a:gs pos="100000">
              <a:srgbClr val="0C183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524000"/>
            <a:ext cx="50800" cy="2540000"/>
          </a:xfrm>
          <a:prstGeom prst="roundRect">
            <a:avLst>
              <a:gd name="adj" fmla="val 0"/>
            </a:avLst>
          </a:prstGeom>
          <a:solidFill>
            <a:srgbClr val="F6DFAC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1651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MANUFACTURING INTELLIGENCE · COURSE DESIGN DEFENSE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270000" y="2349500"/>
            <a:ext cx="990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智能故障预警系统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4064000"/>
            <a:ext cx="1524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2545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基于孤立森林 · 随机森林 · 特征重要度的 B/S 架构智能运维平台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5842000"/>
            <a:ext cx="12192000" cy="12700"/>
          </a:xfrm>
          <a:prstGeom prst="roundRect">
            <a:avLst>
              <a:gd name="adj" fmla="val 0"/>
            </a:avLst>
          </a:prstGeom>
          <a:solidFill>
            <a:srgbClr val="00D4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70000" y="60325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北华大学 · 机械工程学院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智能制造工程专业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461000" y="6032500"/>
            <a:ext cx="317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学生姓名：_______________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学　　号：_______________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0" y="60325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指导教师：_______________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2026 年 9 月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922000" y="508000"/>
            <a:ext cx="1016000" cy="1016000"/>
          </a:xfrm>
          <a:prstGeom prst="ellipse">
            <a:avLst/>
          </a:prstGeom>
          <a:solidFill>
            <a:srgbClr val="00D4F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366500" y="889000"/>
            <a:ext cx="571500" cy="571500"/>
          </a:xfrm>
          <a:prstGeom prst="ellipse">
            <a:avLst/>
          </a:prstGeom>
          <a:solidFill>
            <a:srgbClr val="F6DFAC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889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汇报大纲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762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209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97000" y="2514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设备运维痛点 · 研究目标 · 技术路线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9046" flipH="false" flipV="false">
            <a:off x="762008" y="304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97000" y="323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系统方案设计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97000" y="3657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B/S 四层架构 · 功能模块 · 数据库设计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9046" flipH="false" flipV="false">
            <a:off x="762008" y="4184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762000" y="4445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397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数据资源构建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97000" y="4800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SKAB 数据集 · 预处理 · 46669 条入库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9046" flipH="false" flipV="false">
            <a:off x="762008" y="5327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604000" y="2159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39000" y="2095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核心技术实现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239000" y="2514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孤立森林 · 随机森林 · 特征重要度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046" flipH="false" flipV="false">
            <a:off x="6604008" y="3041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04000" y="3302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239000" y="3238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系统测试与验证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239000" y="3657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38 个自动化用例 · 业务闭环 · bug 修复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9046" flipH="false" flipV="false">
            <a:off x="6604008" y="4184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604000" y="4445000"/>
            <a:ext cx="482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39000" y="43815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239000" y="4800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使用披露 · 创新点 · 未来方向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622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652000" y="6223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02 / 13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01 · RESEARCH BACKGROUND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研究背景与意义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传统设备运维模式的三大痛点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955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00D4FF">
              <a:alpha val="6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222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87500" y="2260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故障发现滞后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587500" y="2603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依赖定期巡检和事后维修，故障发生后才响应，导致生产线非计划停机，造成显著经济损失。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290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00D4FF">
              <a:alpha val="6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5560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87500" y="35941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运维成本偏高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87500" y="3937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缺乏数据驱动的决策支持，存在过度维护浪费资源或维护不足导致故障的两难问题。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762500"/>
            <a:ext cx="5080000" cy="1143000"/>
          </a:xfrm>
          <a:prstGeom prst="roundRect">
            <a:avLst>
              <a:gd name="adj" fmla="val 0"/>
            </a:avLst>
          </a:prstGeom>
          <a:solidFill>
            <a:srgbClr val="00D4FF">
              <a:alpha val="6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16000" y="4889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87500" y="49276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根因定位困难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87500" y="52705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故障发生后无法快速定位诱因，依赖运维人员经验判断，检修时间长、效率低。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1651000"/>
            <a:ext cx="5080000" cy="4254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19050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研究意义：数据驱动的预测性维护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549" flipH="false" flipV="false">
            <a:off x="6604009" y="2343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604000" y="26035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基于设备多传感器时序数据，运用机器学习算法实现异常检测、故障预测与根因分析，在故障发生前提前预警。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67500" y="3619500"/>
            <a:ext cx="127000" cy="127000"/>
          </a:xfrm>
          <a:prstGeom prst="ellipse">
            <a:avLst/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21500" y="3556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减少非计划停机时间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67500" y="4127500"/>
            <a:ext cx="127000" cy="127000"/>
          </a:xfrm>
          <a:prstGeom prst="ellipse">
            <a:avLst/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921500" y="4064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降低设备运维综合成本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67500" y="4635500"/>
            <a:ext cx="127000" cy="127000"/>
          </a:xfrm>
          <a:prstGeom prst="ellipse">
            <a:avLst/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921500" y="4572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提升设备综合效率（OEE）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67500" y="5143500"/>
            <a:ext cx="127000" cy="127000"/>
          </a:xfrm>
          <a:prstGeom prst="ellipse">
            <a:avLst/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921500" y="50800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辅助运维人员快速定位根因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22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652000" y="62230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03 / 13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02 · SYSTEM ARCHITECTURE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系统总体架构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B/S 四层架构 · 表现层 / 业务逻辑层 / 算法层 / 数据层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095500"/>
            <a:ext cx="8636000" cy="8255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12700" cmpd="sng" cap="flat">
            <a:solidFill>
              <a:srgbClr val="00D4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06500" y="2222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表现层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</a:t>
            </a:r>
          </a:p>
        </p:txBody>
      </p:sp>
      <p:cxnSp>
        <p:nvCxnSpPr>
          <p:cNvPr name="Connector 9" id="9"/>
          <p:cNvCxnSpPr/>
          <p:nvPr/>
        </p:nvCxnSpPr>
        <p:spPr>
          <a:xfrm rot="5301805" flipH="false" flipV="false">
            <a:off x="2317750" y="2501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730500" y="2286000"/>
            <a:ext cx="673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设备运维驾驶舱 · 传感器实时监控 · 故障告警管理 · 运维处置记录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HTML / CSS / JavaScript + ECharts 可视化 · 深色工业科技风</a:t>
            </a:r>
          </a:p>
        </p:txBody>
      </p:sp>
      <p:cxnSp>
        <p:nvCxnSpPr>
          <p:cNvPr name="Connector 11" id="11"/>
          <p:cNvCxnSpPr/>
          <p:nvPr/>
        </p:nvCxnSpPr>
        <p:spPr>
          <a:xfrm rot="5209210" flipH="false" flipV="false">
            <a:off x="5219700" y="30291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D4FF">
                <a:alpha val="4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3175000"/>
            <a:ext cx="8636000" cy="825500"/>
          </a:xfrm>
          <a:prstGeom prst="roundRect">
            <a:avLst>
              <a:gd name="adj" fmla="val 0"/>
            </a:avLst>
          </a:prstGeom>
          <a:solidFill>
            <a:srgbClr val="F6DFAC">
              <a:alpha val="8000"/>
            </a:srgbClr>
          </a:solidFill>
          <a:ln w="12700" cmpd="sng" cap="flat">
            <a:solidFill>
              <a:srgbClr val="F6DFAC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6500" y="33020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业务逻辑层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后端</a:t>
            </a:r>
          </a:p>
        </p:txBody>
      </p:sp>
      <p:cxnSp>
        <p:nvCxnSpPr>
          <p:cNvPr name="Connector 14" id="14"/>
          <p:cNvCxnSpPr/>
          <p:nvPr/>
        </p:nvCxnSpPr>
        <p:spPr>
          <a:xfrm rot="5301805" flipH="false" flipV="false">
            <a:off x="2317750" y="35814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2730500" y="3365500"/>
            <a:ext cx="673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Flask 框架 · 13 个 RESTful API · 4 个页面路由 · 业务流程编排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扫描→告警→处置→运维记录完整闭环 · 综合预警级别判定</a:t>
            </a:r>
          </a:p>
        </p:txBody>
      </p:sp>
      <p:cxnSp>
        <p:nvCxnSpPr>
          <p:cNvPr name="Connector 16" id="16"/>
          <p:cNvCxnSpPr/>
          <p:nvPr/>
        </p:nvCxnSpPr>
        <p:spPr>
          <a:xfrm rot="5209210" flipH="false" flipV="false">
            <a:off x="5219700" y="41086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6DFAC">
                <a:alpha val="4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254500"/>
            <a:ext cx="8636000" cy="825500"/>
          </a:xfrm>
          <a:prstGeom prst="roundRect">
            <a:avLst>
              <a:gd name="adj" fmla="val 0"/>
            </a:avLst>
          </a:prstGeom>
          <a:solidFill>
            <a:srgbClr val="00D4FF">
              <a:alpha val="8000"/>
            </a:srgbClr>
          </a:solidFill>
          <a:ln w="12700" cmpd="sng" cap="flat">
            <a:solidFill>
              <a:srgbClr val="00D4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06500" y="4381500"/>
            <a:ext cx="127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算法层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AI 模型</a:t>
            </a:r>
          </a:p>
        </p:txBody>
      </p:sp>
      <p:cxnSp>
        <p:nvCxnSpPr>
          <p:cNvPr name="Connector 19" id="19"/>
          <p:cNvCxnSpPr/>
          <p:nvPr/>
        </p:nvCxnSpPr>
        <p:spPr>
          <a:xfrm rot="5301805" flipH="false" flipV="false">
            <a:off x="2317750" y="4660991"/>
            <a:ext cx="44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2730500" y="4445000"/>
            <a:ext cx="673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孤立森林（时序异常检测）· 随机森林（故障预测，准确率 93.04%）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特征重要度（根因分析 Top3 + 运维建议）· 模型 pkl 持久化</a:t>
            </a:r>
          </a:p>
        </p:txBody>
      </p:sp>
      <p:cxnSp>
        <p:nvCxnSpPr>
          <p:cNvPr name="Connector 21" id="21"/>
          <p:cNvCxnSpPr/>
          <p:nvPr/>
        </p:nvCxnSpPr>
        <p:spPr>
          <a:xfrm rot="5209210" flipH="false" flipV="false">
            <a:off x="5219700" y="5188126"/>
            <a:ext cx="22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D4FF">
                <a:alpha val="4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1016000" y="5334000"/>
            <a:ext cx="8636000" cy="698500"/>
          </a:xfrm>
          <a:prstGeom prst="roundRect">
            <a:avLst>
              <a:gd name="adj" fmla="val 0"/>
            </a:avLst>
          </a:prstGeom>
          <a:solidFill>
            <a:srgbClr val="F6DFAC">
              <a:alpha val="6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206500" y="5435600"/>
            <a:ext cx="127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数据层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3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SQLite</a:t>
            </a:r>
          </a:p>
        </p:txBody>
      </p:sp>
      <p:cxnSp>
        <p:nvCxnSpPr>
          <p:cNvPr name="Connector 24" id="24"/>
          <p:cNvCxnSpPr/>
          <p:nvPr/>
        </p:nvCxnSpPr>
        <p:spPr>
          <a:xfrm rot="5295857" flipH="false" flipV="false">
            <a:off x="2330450" y="5689696"/>
            <a:ext cx="4191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2730500" y="5486400"/>
            <a:ext cx="6731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DCE6F5"/>
                </a:solidFill>
                <a:latin typeface="Noto Sans SC"/>
                <a:ea typeface="Noto Sans SC"/>
                <a:cs typeface="Noto Sans SC"/>
                <a:sym typeface="Noto Sans SC"/>
              </a:rPr>
              <a:t>4 张核心表：devices（设备）· sensor_data（46669 条传感器时序）· alerts（告警）· maintenance（运维记录）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033000" y="2095500"/>
            <a:ext cx="1524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0" y="2286000"/>
            <a:ext cx="127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42969" flipH="false" flipV="false">
            <a:off x="10287040" y="266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10160000" y="2857500"/>
            <a:ext cx="1270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66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3.9</a:t>
            </a:r>
            <a:endParaRPr lang="en-US" sz="1100"/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Flask 3.x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scikit-learn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pandas / numpy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SQLite 3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ECharts 5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HTML / CSS / JS</a:t>
            </a:r>
          </a:p>
          <a:p>
            <a:pPr algn="ctr" marL="0" indent="0">
              <a:lnSpc>
                <a:spcPct val="166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unittest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04 / 13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30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03 · DATA CONSTRUCTION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数据资源构建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651000"/>
            <a:ext cx="5080000" cy="2222500"/>
          </a:xfrm>
          <a:prstGeom prst="roundRect">
            <a:avLst>
              <a:gd name="adj" fmla="val 0"/>
            </a:avLst>
          </a:prstGeom>
          <a:solidFill>
            <a:srgbClr val="00D4FF">
              <a:alpha val="5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803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SKAB 工业水泵异常检测数据集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184400"/>
            <a:ext cx="457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来源：Skoltech Anomaly Benchmark（公开数据集）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规模：38 个 CSV 文件，原始 46860 条样本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场景：anomaly-free / valve1 / valve2 / other 四类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传感器：8 路（振动×2、电流、压力、温度、热电偶、电压、流量）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标签：anomaly（0=正常，1=异常）+ fault_type 故障类型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064000"/>
            <a:ext cx="5080000" cy="1968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216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预处理流程（6 步）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4597400"/>
            <a:ext cx="4572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数据合并：38 个 CSV 合并为单一数据集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② 标签填充：正常工况 anomaly 列填充为 0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③ 时间转换：datetime 统一标准格式，删除无效行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④ 两次去重：全字段去重 + 业务关键字段二次去重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⑤ 缺失值处理：ffill 向前填充 + 均值填充残余缺失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⑥ 排序输出：按时间戳升序，输出 46669 条干净样本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1651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 台虚拟设备数据分布</a:t>
            </a:r>
            <a:endParaRPr lang="en-US" sz="1100"/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6350000" y="2057400"/>
          <a:ext cx="5080000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43000"/>
                <a:gridCol w="1397000"/>
                <a:gridCol w="889000"/>
                <a:gridCol w="889000"/>
                <a:gridCol w="762000"/>
              </a:tblGrid>
              <a:tr h="4064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设备编号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故障场景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样本数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异常数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健康度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PUMP-001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正常工况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9,401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00FF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100%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PUMP-002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valve1 故障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18,162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B4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6,309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C8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65.3%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PUMP-003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valve2 故障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4,312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B4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1,517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C8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64.8%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PUMP-004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other 故障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14,794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5,415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FFC8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63.4%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556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类场景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46,669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000">
                          <a:solidFill>
                            <a:srgbClr val="FFB4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13,241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71.6%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14" id="14"/>
          <p:cNvSpPr/>
          <p:nvPr/>
        </p:nvSpPr>
        <p:spPr>
          <a:xfrm rot="0" flipH="false" flipV="false">
            <a:off x="6350000" y="4572000"/>
            <a:ext cx="5080000" cy="1460500"/>
          </a:xfrm>
          <a:prstGeom prst="roundRect">
            <a:avLst>
              <a:gd name="adj" fmla="val 0"/>
            </a:avLst>
          </a:prstGeom>
          <a:solidFill>
            <a:srgbClr val="00D4FF">
              <a:alpha val="4000"/>
            </a:srgbClr>
          </a:solidFill>
          <a:ln w="12700" cmpd="sng" cap="flat">
            <a:solidFill>
              <a:srgbClr val="00D4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4724400"/>
            <a:ext cx="457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数据质量指标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5105400"/>
            <a:ext cx="215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缺失值：0 条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重复行：0 条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时间戳：连续无间断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0" y="51054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传感器值：均在合理范围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数据库：SQLite 单文件 5.5MB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入库：4 表关联完整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05 / 13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CORE TECHNOLOGY 1 /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核心技术一：时序异常检测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2540000" cy="406400"/>
          </a:xfrm>
          <a:prstGeom prst="roundRect">
            <a:avLst>
              <a:gd name="adj" fmla="val 0"/>
            </a:avLst>
          </a:prstGeom>
          <a:solidFill>
            <a:srgbClr val="00D4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651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孤立森林 IsolationForest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22500"/>
            <a:ext cx="53340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00D4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374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算法原理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755900"/>
            <a:ext cx="482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通过随机划分特征空间构建多棵孤立树（iTree），异常点由于数量少且特征值偏离正常分布，在随机划分中更容易被隔离——从根节点到叶节点的路径长度更短。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计算每个样本的平均路径长度，转化为异常分数（Anomaly Score），越接近 1 越可能是异常。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545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F6DF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406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实现细节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7879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训练数据：仅使用 anomaly=0 的正常工况样本（9401 条）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模型参数：n_estimators=100，contamination=0.05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输入特征：8 路传感器值（振动×2、电流、压力、温度等）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输出：is_anomaly（0=正常，1=异常）+ anomaly_score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模型持久化：anomaly_iforest.pkl（约 1.2MB）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5875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00D4FF">
              <a:alpha val="8000"/>
            </a:srgbClr>
          </a:solidFill>
          <a:ln w="12700" cmpd="sng" cap="flat">
            <a:solidFill>
              <a:srgbClr val="00D4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17399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在系统中的作用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1209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单条数据智能诊断的第一环，批量扫描的异常识别引擎。与故障概率联合判定综合预警级别。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048000"/>
            <a:ext cx="4953000" cy="2984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3200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综合预警级别判定逻辑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822" flipH="false" flipV="false">
            <a:off x="6731009" y="3613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794500" y="3810000"/>
            <a:ext cx="152400" cy="152400"/>
          </a:xfrm>
          <a:prstGeom prst="ellipse">
            <a:avLst/>
          </a:prstGeom>
          <a:solidFill>
            <a:srgbClr val="FF50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048500" y="37592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6464"/>
                </a:solidFill>
                <a:latin typeface="Noto Sans SC"/>
                <a:ea typeface="Noto Sans SC"/>
                <a:cs typeface="Noto Sans SC"/>
                <a:sym typeface="Noto Sans SC"/>
              </a:rPr>
              <a:t>高危</a:t>
            </a:r>
            <a:r>
              <a:rPr lang="en-US" b="false" i="false" strike="noStrike" u="none" sz="1200">
                <a:solidFill>
                  <a:srgbClr val="FFB4B4"/>
                </a:solidFill>
                <a:latin typeface="Noto Sans SC"/>
                <a:ea typeface="Noto Sans SC"/>
                <a:cs typeface="Noto Sans SC"/>
                <a:sym typeface="Noto Sans SC"/>
              </a:rPr>
              <a:t>　fault_prob ≥ 0.7 或 is_anomaly = 1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48500" y="40386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8A0A0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自动生成告警，需立即处置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9822" flipH="false" flipV="false">
            <a:off x="6731009" y="44132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794500" y="4597400"/>
            <a:ext cx="152400" cy="152400"/>
          </a:xfrm>
          <a:prstGeom prst="ellipse">
            <a:avLst/>
          </a:prstGeom>
          <a:solidFill>
            <a:srgbClr val="FFC8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048500" y="45466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C850"/>
                </a:solidFill>
                <a:latin typeface="Noto Sans SC"/>
                <a:ea typeface="Noto Sans SC"/>
                <a:cs typeface="Noto Sans SC"/>
                <a:sym typeface="Noto Sans SC"/>
              </a:rPr>
              <a:t>中危</a:t>
            </a:r>
            <a:r>
              <a:rPr lang="en-US" b="false" i="false" strike="noStrike" u="none" sz="1200">
                <a:solidFill>
                  <a:srgbClr val="FFDC96"/>
                </a:solidFill>
                <a:latin typeface="Noto Sans SC"/>
                <a:ea typeface="Noto Sans SC"/>
                <a:cs typeface="Noto Sans SC"/>
                <a:sym typeface="Noto Sans SC"/>
              </a:rPr>
              <a:t>　0.4 ≤ fault_prob &lt; 0.7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048500" y="4826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C8BE96"/>
                </a:solidFill>
                <a:latin typeface="Noto Sans SC"/>
                <a:ea typeface="Noto Sans SC"/>
                <a:cs typeface="Noto Sans SC"/>
                <a:sym typeface="Noto Sans SC"/>
              </a:rPr>
              <a:t>生成关注告警，建议尽快检查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9822" flipH="false" flipV="false">
            <a:off x="6731009" y="5200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6794500" y="5384800"/>
            <a:ext cx="152400" cy="152400"/>
          </a:xfrm>
          <a:prstGeom prst="ellipse">
            <a:avLst/>
          </a:prstGeom>
          <a:solidFill>
            <a:srgbClr val="00FF9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048500" y="5334000"/>
            <a:ext cx="4191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FF96"/>
                </a:solidFill>
                <a:latin typeface="Noto Sans SC"/>
                <a:ea typeface="Noto Sans SC"/>
                <a:cs typeface="Noto Sans SC"/>
                <a:sym typeface="Noto Sans SC"/>
              </a:rPr>
              <a:t>正常</a:t>
            </a:r>
            <a:r>
              <a:rPr lang="en-US" b="false" i="false" strike="noStrike" u="none" sz="1200">
                <a:solidFill>
                  <a:srgbClr val="96FFC8"/>
                </a:solidFill>
                <a:latin typeface="Noto Sans SC"/>
                <a:ea typeface="Noto Sans SC"/>
                <a:cs typeface="Noto Sans SC"/>
                <a:sym typeface="Noto Sans SC"/>
              </a:rPr>
              <a:t>　fault_prob &lt; 0.4 且 is_anomaly = 0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048500" y="56134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96C8AA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设备运行正常，持续监测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06 / 13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CORE TECHNOLOGY 2 /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核心技术二：设备故障预测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2540000" cy="406400"/>
          </a:xfrm>
          <a:prstGeom prst="roundRect">
            <a:avLst>
              <a:gd name="adj" fmla="val 0"/>
            </a:avLst>
          </a:prstGeom>
          <a:solidFill>
            <a:srgbClr val="F6DFAC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651000"/>
            <a:ext cx="228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随机森林 RandomForest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225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00D4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374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算法原理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7559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Bootstrap 自助采样生成多个训练子集，每个子集训练一棵决策树，最终通过投票综合所有决策树的预测结果。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通过"树的多样性"降低单棵决策树的过拟合风险，具有较高分类精度、良好抗噪声能力和特征重要度评估能力。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545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F6DF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406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实现细节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7879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输入特征：8 路传感器值　监督信号：anomaly 标签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数据划分：8:2 训练集 / 测试集（37335 / 9334 条）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模型参数：n_estimators=200，random_state=42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输出：fault_label + fault_prob + normal_prob（和为 1）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587500"/>
            <a:ext cx="4953000" cy="1524000"/>
          </a:xfrm>
          <a:prstGeom prst="roundRect">
            <a:avLst>
              <a:gd name="adj" fmla="val 0"/>
            </a:avLst>
          </a:prstGeom>
          <a:solidFill>
            <a:srgbClr val="00D4FF">
              <a:alpha val="8000"/>
            </a:srgbClr>
          </a:solidFill>
          <a:ln w="12700" cmpd="sng" cap="flat">
            <a:solidFill>
              <a:srgbClr val="00D4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1739900"/>
            <a:ext cx="317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测试集准确率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2095500"/>
            <a:ext cx="355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93.04%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652000" y="2159000"/>
            <a:ext cx="165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测试集 9334 条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二分类故障预测</a:t>
            </a:r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正常 / 异常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3302000"/>
            <a:ext cx="4953000" cy="2730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34544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混淆矩阵（测试集）</a:t>
            </a:r>
            <a:endParaRPr lang="en-US" sz="1100"/>
          </a:p>
        </p:txBody>
      </p:sp>
      <p:graphicFrame>
        <p:nvGraphicFramePr>
          <p:cNvPr name="Table 20" id="20"/>
          <p:cNvGraphicFramePr>
            <a:graphicFrameLocks noGrp="true"/>
          </p:cNvGraphicFramePr>
          <p:nvPr/>
        </p:nvGraphicFramePr>
        <p:xfrm>
          <a:off x="6858000" y="3873500"/>
          <a:ext cx="4191000" cy="1778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/>
                <a:gridCol w="1397000"/>
                <a:gridCol w="1397000"/>
              </a:tblGrid>
              <a:tr h="4953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1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真实\预测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FF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预测正常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96">
                        <a:alpha val="15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预测异常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050">
                        <a:alpha val="15000"/>
                      </a:srgbClr>
                    </a:solidFill>
                  </a:tcPr>
                </a:tc>
              </a:tr>
              <a:tr h="635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00FF9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真实正常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FF96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6594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B4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646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真实异常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5050">
                        <a:alpha val="1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B45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558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2090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21" id="21"/>
          <p:cNvSpPr/>
          <p:nvPr/>
        </p:nvSpPr>
        <p:spPr>
          <a:xfrm rot="0" flipH="false" flipV="false">
            <a:off x="6858000" y="57404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精确率 95.8% · 召回率 78.9% · F1 分数 86.5%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07 / 13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CORE TECHNOLOGY 3 / 3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核心技术三：故障根因分析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3048000" cy="406400"/>
          </a:xfrm>
          <a:prstGeom prst="roundRect">
            <a:avLst>
              <a:gd name="adj" fmla="val 0"/>
            </a:avLst>
          </a:prstGeom>
          <a:solidFill>
            <a:srgbClr val="00D4FF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1651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特征重要度 Feature Importance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222500"/>
            <a:ext cx="5334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00D4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374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算法原理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755900"/>
            <a:ext cx="482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从训练好的随机森林模型中提取 feature_importances_，通过评估每个特征在所有决策树分裂中带来的不纯度减少量，计算各传感器对故障预测的贡献程度。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贡献度越高的传感器，对故障判定影响越大，可作为故障根因定位依据，结合物理含义生成针对性运维建议。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54500"/>
            <a:ext cx="5334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F6DF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4069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根因→运维建议映射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787900"/>
            <a:ext cx="482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振动异常（Accelerometer）→ 检查轴承磨损、叶轮动平衡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电流异常（Current）→ 检查电机负载、绕组绝缘状态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流量异常（Volume Flow Rate）→ 检查管路阀门、叶轮堵塞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温度异常（Temperature）→ 检查冷却系统、润滑状态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压力异常（Pressure）→ 检查管路泄漏、泵腔密封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1587500"/>
            <a:ext cx="4953000" cy="44450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31000" y="17399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8 路传感器特征重要度排序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822" flipH="false" flipV="false">
            <a:off x="6731009" y="2152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6731000" y="22860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6464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175500" y="2286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振动加速度 1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2616200"/>
            <a:ext cx="4318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1000" y="2616200"/>
            <a:ext cx="3937000" cy="76200"/>
          </a:xfrm>
          <a:prstGeom prst="roundRect">
            <a:avLst>
              <a:gd name="adj" fmla="val 0"/>
            </a:avLst>
          </a:prstGeom>
          <a:solidFill>
            <a:srgbClr val="FF6464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31000" y="28194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B450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75500" y="28194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振动加速度 2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3149600"/>
            <a:ext cx="4318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31000" y="3149600"/>
            <a:ext cx="3556000" cy="76200"/>
          </a:xfrm>
          <a:prstGeom prst="roundRect">
            <a:avLst>
              <a:gd name="adj" fmla="val 0"/>
            </a:avLst>
          </a:prstGeom>
          <a:solidFill>
            <a:srgbClr val="FFB450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33528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DC64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175500" y="33528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电机电流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31000" y="3683000"/>
            <a:ext cx="4318000" cy="762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31000" y="3683000"/>
            <a:ext cx="3048000" cy="76200"/>
          </a:xfrm>
          <a:prstGeom prst="roundRect">
            <a:avLst>
              <a:gd name="adj" fmla="val 0"/>
            </a:avLst>
          </a:prstGeom>
          <a:solidFill>
            <a:srgbClr val="FFDC64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731000" y="3911600"/>
            <a:ext cx="444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8333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4. 流量　　5. 压力　　6. 温度</a:t>
            </a:r>
            <a:endParaRPr lang="en-US" sz="1100"/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7. 热电偶温度　　8. 电机电压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　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输出：</a:t>
            </a: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Top3 根因传感器 + 贡献度</a:t>
            </a:r>
          </a:p>
          <a:p>
            <a:pPr algn="l" marL="0" indent="0">
              <a:lnSpc>
                <a:spcPct val="158333"/>
              </a:lnSpc>
            </a:pPr>
            <a:r>
              <a:rPr lang="en-US" b="fals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</a:t>
            </a: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中文根因分析 + 针对性运维建议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08 / 13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05 · SYSTEM FUNCTIONS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系统功能展示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深色工业科技风 · 4 个核心页面 · 完整业务闭环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095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D4FF">
              <a:alpha val="6000"/>
            </a:srgbClr>
          </a:solidFill>
          <a:ln w="12700" cmpd="sng" cap="flat">
            <a:solidFill>
              <a:srgbClr val="00D4FF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095500"/>
            <a:ext cx="50800" cy="18415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260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设备运维管理驾驶舱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2667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5 项 KPI 指标卡（设备数/数据量/健康率/告警数/高危数）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6 类可视化图表（状态环/健康柱/级别饼/趋势/特征重要度/告警流）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设备健康档案表（健康度评分/状态标签/未处理告警/跳转监控）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095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6DFAC">
              <a:alpha val="6000"/>
            </a:srgbClr>
          </a:solidFill>
          <a:ln w="12700" cmpd="sng" cap="flat">
            <a:solidFill>
              <a:srgbClr val="F6DFAC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2095500"/>
            <a:ext cx="50800" cy="18415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260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传感器实时监控与诊断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667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3 大仪表盘（健康度/故障概率/异常分数）+ 8 路传感器 gauge 网格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4 组时序曲线（渐变面积填充），设备与点数切换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三大算法串联智能诊断，Top3 根因进度条 + 运维建议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127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6DFAC">
              <a:alpha val="6000"/>
            </a:srgbClr>
          </a:solidFill>
          <a:ln w="12700" cmpd="sng" cap="flat">
            <a:solidFill>
              <a:srgbClr val="F6DFAC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127500"/>
            <a:ext cx="50800" cy="18415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292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故障告警管理面板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699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4 项统计卡 + 级别占比环形图 + 告警趋势堆叠柱状图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告警列表（10 列完整信息，根因长文本自动换行）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设备/状态/级别三维组合筛选，一键扫描，告警处置闭环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1275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00D4FF">
              <a:alpha val="6000"/>
            </a:srgbClr>
          </a:solidFill>
          <a:ln w="12700" cmpd="sng" cap="flat">
            <a:solidFill>
              <a:srgbClr val="00D4FF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27500"/>
            <a:ext cx="50800" cy="18415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4292600"/>
            <a:ext cx="4699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运维处置记录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699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3 项统计（累计处置/涉及设备/运维人员，前端 Set 去重）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完整运维处置记录表（关联告警 ID/告警内容/处置措施/处理人/时间）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· 告警处置时自动创建运维记录，形成"告警→处置→记录"闭环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09 / 13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06 · TESTING &amp; VERIFICATION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系统测试与验证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12700" cmpd="sng" cap="flat">
            <a:solidFill>
              <a:srgbClr val="00D4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17399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自动化测试用例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0574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38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2286000"/>
            <a:ext cx="190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个用例全部通过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A0B4D2"/>
                </a:solidFill>
                <a:latin typeface="Noto Sans SC"/>
                <a:ea typeface="Noto Sans SC"/>
                <a:cs typeface="Noto Sans SC"/>
                <a:sym typeface="Noto Sans SC"/>
              </a:rPr>
              <a:t>耗时 1.257 秒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587500"/>
            <a:ext cx="3556000" cy="1397000"/>
          </a:xfrm>
          <a:prstGeom prst="roundRect">
            <a:avLst>
              <a:gd name="adj" fmla="val 0"/>
            </a:avLst>
          </a:prstGeom>
          <a:solidFill>
            <a:srgbClr val="F6DFAC">
              <a:alpha val="8000"/>
            </a:srgbClr>
          </a:solidFill>
          <a:ln w="12700" cmpd="sng" cap="flat">
            <a:solidFill>
              <a:srgbClr val="F6DFAC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26000" y="1739900"/>
            <a:ext cx="304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测试框架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2095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标准库 unittest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Flask test_client（无需启动服务器）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5 个测试类，覆盖全链路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82000" y="1587500"/>
            <a:ext cx="3048000" cy="1397000"/>
          </a:xfrm>
          <a:prstGeom prst="roundRect">
            <a:avLst>
              <a:gd name="adj" fmla="val 0"/>
            </a:avLst>
          </a:prstGeom>
          <a:solidFill>
            <a:srgbClr val="00FF96">
              <a:alpha val="8000"/>
            </a:srgbClr>
          </a:solidFill>
          <a:ln w="12700" cmpd="sng" cap="flat">
            <a:solidFill>
              <a:srgbClr val="00FF9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636000" y="1739900"/>
            <a:ext cx="254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FF9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测试结果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36000" y="20955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B4FFD2"/>
                </a:solidFill>
                <a:latin typeface="Noto Sans SC"/>
                <a:ea typeface="Noto Sans SC"/>
                <a:cs typeface="Noto Sans SC"/>
                <a:sym typeface="Noto Sans SC"/>
              </a:rPr>
              <a:t>Ran 38 tests in 1.257s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B4FFD2"/>
                </a:solidFill>
                <a:latin typeface="Noto Sans SC"/>
                <a:ea typeface="Noto Sans SC"/>
                <a:cs typeface="Noto Sans SC"/>
                <a:sym typeface="Noto Sans SC"/>
              </a:rPr>
              <a:t>OK — 全部通过</a:t>
            </a:r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B4FFD2"/>
                </a:solidFill>
                <a:latin typeface="Noto Sans SC"/>
                <a:ea typeface="Noto Sans SC"/>
                <a:cs typeface="Noto Sans SC"/>
                <a:sym typeface="Noto Sans SC"/>
              </a:rPr>
              <a:t>0 失败，0 错误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2385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测试用例分布</a:t>
            </a:r>
            <a:endParaRPr lang="en-US" sz="1100"/>
          </a:p>
        </p:txBody>
      </p: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762000" y="3619500"/>
          <a:ext cx="5334000" cy="23495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762000"/>
                <a:gridCol w="2540000"/>
              </a:tblGrid>
              <a:tr h="4318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测试类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1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D4FF">
                        <a:alpha val="20000"/>
                      </a:srgbClr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TestDatabase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表存在性/设备映射/数据量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TestAlgorithms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三模型加载/返回结构/准确率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13 接口/三维筛选/组合筛选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TestBusinessFlow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扫描→告警→处置→记录闭环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37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C8DC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TestPages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00D4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000">
                          <a:solidFill>
                            <a:srgbClr val="B4C8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 页面路由 200 且含标题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18" id="18"/>
          <p:cNvSpPr/>
          <p:nvPr/>
        </p:nvSpPr>
        <p:spPr>
          <a:xfrm rot="0" flipH="false" flipV="false">
            <a:off x="6477000" y="3238500"/>
            <a:ext cx="4953000" cy="2730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33909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集成调试修复的真实 Bug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9822" flipH="false" flipV="false">
            <a:off x="6731009" y="37782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6731000" y="3911600"/>
            <a:ext cx="4445000" cy="196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数据库列名不一致（空格 vs 下划线）→ 新增映射函数修复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② 监控页仪表盘初始空白 → 页面加载自动执行诊断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③ 表格按钮换行与字体重叠 → 布局比例调整 + td-wrap 类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④ 测试脚本 bytes 语法错误 → 改为 decode 后字符串判断</a:t>
            </a:r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⑤ ECharts 重复初始化警告 → 封装 renderGauge 复用实例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10 / 13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07 · AI USAGE DISCLOSURE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 使用披露（Vibe-Coding）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2540000" cy="762000"/>
          </a:xfrm>
          <a:prstGeom prst="roundRect">
            <a:avLst>
              <a:gd name="adj" fmla="val 0"/>
            </a:avLst>
          </a:prstGeom>
          <a:solidFill>
            <a:srgbClr val="00D4FF">
              <a:alpha val="12000"/>
            </a:srgbClr>
          </a:solidFill>
          <a:ln w="12700" cmpd="sng" cap="flat">
            <a:solidFill>
              <a:srgbClr val="00D4F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17145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AI 辅助工具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19685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豆包（doubao）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56000" y="1587500"/>
            <a:ext cx="3048000" cy="762000"/>
          </a:xfrm>
          <a:prstGeom prst="roundRect">
            <a:avLst>
              <a:gd name="adj" fmla="val 0"/>
            </a:avLst>
          </a:prstGeom>
          <a:solidFill>
            <a:srgbClr val="F6DFAC">
              <a:alpha val="10000"/>
            </a:srgbClr>
          </a:solidFill>
          <a:ln w="12700" cmpd="sng" cap="flat">
            <a:solidFill>
              <a:srgbClr val="F6DFAC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46500" y="1714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过程档案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1968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 份 prompt 档案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858000" y="1587500"/>
            <a:ext cx="3048000" cy="762000"/>
          </a:xfrm>
          <a:prstGeom prst="roundRect">
            <a:avLst>
              <a:gd name="adj" fmla="val 0"/>
            </a:avLst>
          </a:prstGeom>
          <a:solidFill>
            <a:srgbClr val="00FF96">
              <a:alpha val="8000"/>
            </a:srgbClr>
          </a:solidFill>
          <a:ln w="12700" cmpd="sng" cap="flat">
            <a:solidFill>
              <a:srgbClr val="00FF9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048500" y="1714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00FF96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048500" y="1968500"/>
            <a:ext cx="266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 Git 提交历史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0" y="1587500"/>
            <a:ext cx="1651000" cy="762000"/>
          </a:xfrm>
          <a:prstGeom prst="roundRect">
            <a:avLst>
              <a:gd name="adj" fmla="val 0"/>
            </a:avLst>
          </a:prstGeom>
          <a:solidFill>
            <a:srgbClr val="FF6464">
              <a:alpha val="8000"/>
            </a:srgbClr>
          </a:solidFill>
          <a:ln w="12700" cmpd="sng" cap="flat">
            <a:solidFill>
              <a:srgbClr val="FF646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87000" y="1714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人工审查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287000" y="1968500"/>
            <a:ext cx="139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100% 审查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26035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关键提示词策略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2984500"/>
            <a:ext cx="5334000" cy="2984500"/>
          </a:xfrm>
          <a:prstGeom prst="roundRect">
            <a:avLst>
              <a:gd name="adj" fmla="val 0"/>
            </a:avLst>
          </a:prstGeom>
          <a:solidFill>
            <a:srgbClr val="FFFFFF">
              <a:alpha val="3000"/>
            </a:srgbClr>
          </a:solidFill>
          <a:ln w="12700" cmpd="sng" cap="flat">
            <a:solidFill>
              <a:srgbClr val="00D4FF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3149600"/>
            <a:ext cx="4826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① 任务拆解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：大任务拆分为可执行子任务，单次下发单一明确需求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② 约束说明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：明确技术栈、架构约束、业务场景、代码规范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③ 验收标准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：每次请求明确可验证的验收条件（接口格式/功能闭环）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④ 上下文工程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：修改前让 AI 先读已有代码，增量修改保证一致性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⑤ 规格驱动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：先需求规格→AI 制定计划→分步实现→逐步验收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⑥ 人工接管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无法修复时回滚/缩小改动/最小复现辅助定位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77000" y="26035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AI 出错案例及人工纠正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2984500"/>
            <a:ext cx="4953000" cy="2984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31000" y="3149600"/>
            <a:ext cx="4445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① 列名不一致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生成算法用空格原名，DB 用下划线→人工新增映射函数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② 阈值不合理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设 90/70 导致全红→人工调整为 85/60，得到合理分布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③ 全局 nowrap 溢出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统一 nowrap 导致长文本溢出→人工新增 td-wrap 类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④ bytes 语法错误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用 b"中文"→人工改为 decode 后字符串判断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F9696"/>
                </a:solidFill>
                <a:latin typeface="Noto Sans SC"/>
                <a:ea typeface="Noto Sans SC"/>
                <a:cs typeface="Noto Sans SC"/>
                <a:sym typeface="Noto Sans SC"/>
              </a:rPr>
              <a:t>⑤ ECharts 重复 init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：AI 每次 init 同一 DOM→人工封装 renderGauge 复用实例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FF96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原则：AI 生成代码必须经人工审查逻辑/安全/业务适配性，测试验证后才提交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11 / 13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444500"/>
            <a:ext cx="355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08 · SUMMARY &amp; OUTLOOK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762000"/>
            <a:ext cx="889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71600"/>
            <a:ext cx="635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15875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项目成果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1968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12700" cmpd="sng" cap="flat">
            <a:solidFill>
              <a:srgbClr val="00D4FF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095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4+13+3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6416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4 页面 / 13 API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3 大算法模块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19685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6DFAC">
              <a:alpha val="10000"/>
            </a:srgbClr>
          </a:solidFill>
          <a:ln w="12700" cmpd="sng" cap="flat">
            <a:solidFill>
              <a:srgbClr val="F6DFAC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20955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93.04%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746500" y="26416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故障预测测试集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准确率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429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00FF96">
              <a:alpha val="8000"/>
            </a:srgbClr>
          </a:solidFill>
          <a:ln w="12700" cmpd="sng" cap="flat">
            <a:solidFill>
              <a:srgbClr val="00FF9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355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FF96"/>
                </a:solidFill>
                <a:latin typeface="Noto Sans SC"/>
                <a:ea typeface="Noto Sans SC"/>
                <a:cs typeface="Noto Sans SC"/>
                <a:sym typeface="Noto Sans SC"/>
              </a:rPr>
              <a:t>38 / 38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1021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自动化测试用例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全部通过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56000" y="3429000"/>
            <a:ext cx="2540000" cy="1270000"/>
          </a:xfrm>
          <a:prstGeom prst="roundRect">
            <a:avLst>
              <a:gd name="adj" fmla="val 0"/>
            </a:avLst>
          </a:prstGeom>
          <a:solidFill>
            <a:srgbClr val="FF9664">
              <a:alpha val="8000"/>
            </a:srgbClr>
          </a:solidFill>
          <a:ln w="12700" cmpd="sng" cap="flat">
            <a:solidFill>
              <a:srgbClr val="FF966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746500" y="35560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FFB478"/>
                </a:solidFill>
                <a:latin typeface="Noto Sans SC"/>
                <a:ea typeface="Noto Sans SC"/>
                <a:cs typeface="Noto Sans SC"/>
                <a:sym typeface="Noto Sans SC"/>
              </a:rPr>
              <a:t>7 份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746500" y="4102100"/>
            <a:ext cx="228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Vibe-Coding 过程</a:t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prompt 档案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15875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00D4FF">
              <a:alpha val="5000"/>
            </a:srgbClr>
          </a:solidFill>
          <a:ln w="12700" cmpd="sng" cap="flat">
            <a:solidFill>
              <a:srgbClr val="00D4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731000" y="17399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创新点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822" flipH="false" flipV="false">
            <a:off x="6731009" y="21272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D4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731000" y="2260600"/>
            <a:ext cx="4445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① 三算法串联诊断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：孤立森林异常检测→随机森林故障预测→特征重要度根因分析，形成完整智能诊断链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② 综合预警级别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：融合异常分数与故障概率，高危/中危/正常三级判定，避免单一指标误报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③ 运维闭环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：告警扫描→告警处置→运维记录自动创建，状态同步，形成可追溯闭环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3873500"/>
            <a:ext cx="4953000" cy="2095500"/>
          </a:xfrm>
          <a:prstGeom prst="roundRect">
            <a:avLst>
              <a:gd name="adj" fmla="val 0"/>
            </a:avLst>
          </a:prstGeom>
          <a:solidFill>
            <a:srgbClr val="F6DFAC">
              <a:alpha val="5000"/>
            </a:srgbClr>
          </a:solidFill>
          <a:ln w="12700" cmpd="sng" cap="flat">
            <a:solidFill>
              <a:srgbClr val="F6DFAC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31000" y="40259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不足与未来展望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9822" flipH="false" flipV="false">
            <a:off x="6731009" y="44132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6DFA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6731000" y="4546600"/>
            <a:ext cx="4445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1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① 数据规模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：当前使用公开 SKAB 数据集，未来可接入真实工业现场数据，提升模型泛化能力</a:t>
            </a:r>
            <a:endParaRPr lang="en-US" sz="1100"/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② 模型可解释性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：可引入 SHAP/LIME 等方法，提升根因分析的可解释性和可信度</a:t>
            </a:r>
          </a:p>
          <a:p>
            <a:pPr algn="l" marL="0" indent="0">
              <a:lnSpc>
                <a:spcPct val="133333"/>
              </a:lnSpc>
            </a:pPr>
            <a:r>
              <a:rPr lang="en-US" b="true" i="false" strike="noStrike" u="none" sz="1100">
                <a:solidFill>
                  <a:srgbClr val="F6DFAC"/>
                </a:solidFill>
                <a:latin typeface="Noto Sans SC"/>
                <a:ea typeface="Noto Sans SC"/>
                <a:cs typeface="Noto Sans SC"/>
                <a:sym typeface="Noto Sans SC"/>
              </a:rPr>
              <a:t>③ 实时流式处理</a:t>
            </a:r>
            <a:r>
              <a:rPr lang="en-US" b="false" i="false" strike="noStrike" u="none" sz="1100">
                <a:solidFill>
                  <a:srgbClr val="B4C8E6"/>
                </a:solidFill>
                <a:latin typeface="Noto Sans SC"/>
                <a:ea typeface="Noto Sans SC"/>
                <a:cs typeface="Noto Sans SC"/>
                <a:sym typeface="Noto Sans SC"/>
              </a:rPr>
              <a:t>：当前为批量分析，未来可扩展 Kafka/Flink 实时流式处理，支持多设备联动分析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12 / 13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A1430">
                <a:alpha val="100000"/>
              </a:srgbClr>
            </a:gs>
            <a:gs pos="100000">
              <a:srgbClr val="0F1C3C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6819900"/>
            <a:ext cx="12192000" cy="38100"/>
          </a:xfrm>
          <a:prstGeom prst="roundRect">
            <a:avLst>
              <a:gd name="adj" fmla="val 0"/>
            </a:avLst>
          </a:prstGeom>
          <a:solidFill>
            <a:srgbClr val="F6DFAC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4826000" y="1968500"/>
            <a:ext cx="2540000" cy="38100"/>
          </a:xfrm>
          <a:prstGeom prst="roundRect">
            <a:avLst>
              <a:gd name="adj" fmla="val 0"/>
            </a:avLst>
          </a:prstGeom>
          <a:solidFill>
            <a:srgbClr val="00D4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286000" y="22225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0" y="3365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D4FF"/>
                </a:solidFill>
                <a:latin typeface="Noto Sans SC"/>
                <a:ea typeface="Noto Sans SC"/>
                <a:cs typeface="Noto Sans SC"/>
                <a:sym typeface="Noto Sans SC"/>
              </a:rPr>
              <a:t>敬请批评指正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4064000"/>
            <a:ext cx="2540000" cy="25400"/>
          </a:xfrm>
          <a:prstGeom prst="roundRect">
            <a:avLst>
              <a:gd name="adj" fmla="val 0"/>
            </a:avLst>
          </a:prstGeom>
          <a:solidFill>
            <a:srgbClr val="F6DFAC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43180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DCF0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86000" y="47625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CA0BE"/>
                </a:solidFill>
                <a:latin typeface="Noto Sans SC"/>
                <a:ea typeface="Noto Sans SC"/>
                <a:cs typeface="Noto Sans SC"/>
                <a:sym typeface="Noto Sans SC"/>
              </a:rPr>
              <a:t>北华大学 · 机械工程学院 · 智能制造工程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5143500"/>
            <a:ext cx="889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学生：_______________　学号：_______________　指导教师：_______________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6286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面向车间设备运维的智能故障预警系统 · 课程设计答辩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0" y="6286500"/>
            <a:ext cx="177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896"/>
                </a:solidFill>
                <a:latin typeface="Noto Sans SC"/>
                <a:ea typeface="Noto Sans SC"/>
                <a:cs typeface="Noto Sans SC"/>
                <a:sym typeface="Noto Sans SC"/>
              </a:rPr>
              <a:t>13 / 13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